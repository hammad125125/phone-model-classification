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48" y="-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290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project on classifying phone models from images using MobileNetV2 transfer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316736"/>
            <a:ext cx="6126480" cy="2377440"/>
          </a:xfrm>
          <a:prstGeom prst="roundRect">
            <a:avLst>
              <a:gd name="adj" fmla="val 307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243584"/>
            <a:ext cx="6126480" cy="2377440"/>
          </a:xfrm>
          <a:prstGeom prst="roundRect">
            <a:avLst>
              <a:gd name="adj" fmla="val 307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70432"/>
            <a:ext cx="6126480" cy="2377440"/>
          </a:xfrm>
          <a:prstGeom prst="roundRect">
            <a:avLst>
              <a:gd name="adj" fmla="val 307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6126480" cy="2377440"/>
          </a:xfrm>
          <a:prstGeom prst="roundRect">
            <a:avLst>
              <a:gd name="adj" fmla="val 3077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93228" y="1325880"/>
            <a:ext cx="155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1170432"/>
            <a:ext cx="310896" cy="3108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12864" y="2258568"/>
            <a:ext cx="310896" cy="77724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258568"/>
            <a:ext cx="310896" cy="77724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34656" y="3268980"/>
            <a:ext cx="341986" cy="341986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5358" y="3268980"/>
            <a:ext cx="341986" cy="341986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32574" y="1667866"/>
            <a:ext cx="1554480" cy="1709928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5939" y="1621231"/>
            <a:ext cx="1554480" cy="1709928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1559052"/>
            <a:ext cx="1554480" cy="1709928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79208" y="1745590"/>
            <a:ext cx="1243584" cy="1243584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96835" y="2025396"/>
            <a:ext cx="310896" cy="4041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4269" y="2025396"/>
            <a:ext cx="310896" cy="4041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90104" y="2149754"/>
            <a:ext cx="155448" cy="217627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7538" y="2149754"/>
            <a:ext cx="155448" cy="217627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41387" y="2507285"/>
            <a:ext cx="217627" cy="139903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42986" y="2507285"/>
            <a:ext cx="217627" cy="139903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3373" y="2600554"/>
            <a:ext cx="435254" cy="15544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7731" y="3066898"/>
            <a:ext cx="186538" cy="1865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457200"/>
            <a:ext cx="182880" cy="182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18288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0" y="182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Assalam o Alaikum! Main Phone hun, chalein shuru karein?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12801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MODEL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26974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a Pretrained MobileNetV2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Hammad Mushtaq  |  SU92_BSCSM-S23-135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University  |  Instructor: Dr. Munir Ahmed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95208" y="201168"/>
            <a:ext cx="5944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38744" y="141732"/>
            <a:ext cx="118872" cy="1188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2128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5729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2605" y="331927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4774" y="314096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290322"/>
            <a:ext cx="594360" cy="653796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0436" y="361645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646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842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9308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9503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4210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8939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4970" y="688543"/>
            <a:ext cx="166421" cy="594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2518" y="866851"/>
            <a:ext cx="71323" cy="713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457200"/>
            <a:ext cx="182880" cy="182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286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15000" y="228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Pehle masla samjhte hain!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1444752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1389888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1335024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12801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18288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phones look alike across and within brands. Identifying the exact model by eye is slow and unreliable.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given a phone image, predict its model from a fixed set of classes, using limited data and modest hardware.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28032" y="1444752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1389888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18304" y="1335024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labelled phone image dataset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ImageNet-pretrained MobileNetV2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head with a new classifier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validate, monitor learning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accuracy, precision, recall, F1, confusion matrix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95208" y="201168"/>
            <a:ext cx="5944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38744" y="141732"/>
            <a:ext cx="118872" cy="1188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2128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5729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2605" y="331927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4774" y="314096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290322"/>
            <a:ext cx="594360" cy="653796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0436" y="361645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646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842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9308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9503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4210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8939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4970" y="688543"/>
            <a:ext cx="166421" cy="594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2518" y="866851"/>
            <a:ext cx="71323" cy="713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457200"/>
            <a:ext cx="182880" cy="182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286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15000" y="228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images ka dataset!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1536192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148132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1426464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13716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4864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(sample)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02152" y="1536192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47288" y="148132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92424" y="1426464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13716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33756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3200" dirty="0"/>
          </a:p>
        </p:txBody>
      </p:sp>
      <p:sp>
        <p:nvSpPr>
          <p:cNvPr id="39" name="Text 37"/>
          <p:cNvSpPr txBox="1"/>
          <p:nvPr/>
        </p:nvSpPr>
        <p:spPr>
          <a:xfrm>
            <a:off x="333756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input size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91072" y="1536192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148132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1426464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13716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12648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80/10/10</a:t>
            </a:r>
            <a:endParaRPr lang="en-US" sz="3200" dirty="0"/>
          </a:p>
        </p:txBody>
      </p:sp>
      <p:sp>
        <p:nvSpPr>
          <p:cNvPr id="45" name="Text 43"/>
          <p:cNvSpPr txBox="1"/>
          <p:nvPr/>
        </p:nvSpPr>
        <p:spPr>
          <a:xfrm>
            <a:off x="612648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13232" y="3639312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" y="3584448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" y="3529584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 per phone model. Images from different angles, lighting and backgrounds. Duplicates and low-quality images removed during cleaning.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95208" y="201168"/>
            <a:ext cx="5944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38744" y="141732"/>
            <a:ext cx="118872" cy="1188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2128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5729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2605" y="331927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4774" y="314096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290322"/>
            <a:ext cx="594360" cy="653796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0436" y="361645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646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842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9308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9503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4210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8939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4970" y="688543"/>
            <a:ext cx="166421" cy="594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2518" y="866851"/>
            <a:ext cx="71323" cy="713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457200"/>
            <a:ext cx="182880" cy="182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286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15000" y="228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aise flow hota hai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1536192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1481328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1426464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13716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48640" y="13716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image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880360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02152" y="1536192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47288" y="1481328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92424" y="1426464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13716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337560" y="13716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normalize,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0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91072" y="1536192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1481328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1426464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13716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126480" y="13716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13232" y="3182112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" y="3127248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" y="3072384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30175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8B5CF6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54864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(ImageNet)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2880360" y="3429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502152" y="3182112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47288" y="3127248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92424" y="3072384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37560" y="30175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8B5CF6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333756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+ softmax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669280" y="3429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91072" y="3182112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36208" y="3127248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81344" y="3072384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26480" y="30175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E7490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612648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model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758952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95208" y="201168"/>
            <a:ext cx="5944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38744" y="141732"/>
            <a:ext cx="118872" cy="1188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2128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5729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2605" y="331927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4774" y="314096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290322"/>
            <a:ext cx="594360" cy="653796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0436" y="361645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646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842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9308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9503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4210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8939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4970" y="688543"/>
            <a:ext cx="166421" cy="594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2518" y="866851"/>
            <a:ext cx="71323" cy="713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457200"/>
            <a:ext cx="182880" cy="182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286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15000" y="228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 hai mera dimaag (layers)!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0976" y="1408176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8304" y="1365504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632" y="1322832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128016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22960" y="12801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224×224×3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88136" y="2066544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5464" y="2023872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2792" y="198120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" y="1938528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60120" y="19385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base (frozen)  →  7×7×1280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225296" y="2724912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2624" y="268224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39952" y="2639568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" y="2596896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1097280" y="25968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  →  1280-d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362456" y="33832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19784" y="3340608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77112" y="3297936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34440" y="3255264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234440" y="32552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499616" y="4041648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56944" y="3998976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14272" y="3956304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71600" y="3913632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472B6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1371600" y="3913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N + Softmax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199632" y="1444752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44768" y="1389888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9904" y="1335024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350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MOBILENETV2?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217920" y="18288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~3.4M parameters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residual blocks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enough for phones &amp; modest hardware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95208" y="201168"/>
            <a:ext cx="5944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38744" y="141732"/>
            <a:ext cx="118872" cy="1188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2128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5729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2605" y="331927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4774" y="314096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290322"/>
            <a:ext cx="594360" cy="653796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0436" y="361645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646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842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9308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9503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4210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8939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4970" y="688543"/>
            <a:ext cx="166421" cy="594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2518" y="866851"/>
            <a:ext cx="71323" cy="713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457200"/>
            <a:ext cx="182880" cy="182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286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15000" y="228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settings dekho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1490472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1435608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1380744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4864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3502152" y="1490472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47288" y="1435608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92424" y="1380744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33756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33756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6291072" y="1490472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1435608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1380744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13258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12648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12648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713232" y="2999232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" y="2944368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" y="2889504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2834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54864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3502152" y="2999232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47288" y="2944368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92424" y="2889504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37560" y="2834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333756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333756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CE</a:t>
            </a:r>
            <a:endParaRPr lang="en-US" sz="2200" dirty="0"/>
          </a:p>
        </p:txBody>
      </p:sp>
      <p:sp>
        <p:nvSpPr>
          <p:cNvPr id="58" name="Shape 56"/>
          <p:cNvSpPr/>
          <p:nvPr/>
        </p:nvSpPr>
        <p:spPr>
          <a:xfrm>
            <a:off x="6291072" y="2999232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36208" y="2944368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81344" y="2889504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26480" y="28346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2" name="Text 60"/>
          <p:cNvSpPr txBox="1"/>
          <p:nvPr/>
        </p:nvSpPr>
        <p:spPr>
          <a:xfrm>
            <a:off x="612648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12648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22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base frozen, train classifier. Stage 2 (optional): unfreeze top layers, fine-tune with a small learning rate. Augmentation: flip, rotation, zoom, brightness.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(sample values)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95208" y="201168"/>
            <a:ext cx="5944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38744" y="141732"/>
            <a:ext cx="118872" cy="1188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2128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5729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2605" y="331927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4774" y="314096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290322"/>
            <a:ext cx="594360" cy="653796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0436" y="361645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646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842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9308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9503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4210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8939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4970" y="688543"/>
            <a:ext cx="166421" cy="594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2518" y="866851"/>
            <a:ext cx="71323" cy="713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457200"/>
            <a:ext cx="182880" cy="182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286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15000" y="228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Dekho kitni accuracy aayi!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10512" y="1485900"/>
            <a:ext cx="274320" cy="2537460"/>
          </a:xfrm>
          <a:prstGeom prst="parallelogram">
            <a:avLst/>
          </a:prstGeom>
          <a:solidFill>
            <a:srgbClr val="22D3EE">
              <a:alpha val="5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1577340"/>
            <a:ext cx="1005840" cy="2537460"/>
          </a:xfrm>
          <a:prstGeom prst="rect">
            <a:avLst/>
          </a:prstGeom>
          <a:solidFill>
            <a:srgbClr val="22D3EE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508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0080" y="11201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47872" y="1965960"/>
            <a:ext cx="274320" cy="2057400"/>
          </a:xfrm>
          <a:prstGeom prst="parallelogram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2057400"/>
            <a:ext cx="1005840" cy="2057400"/>
          </a:xfrm>
          <a:prstGeom prst="rect">
            <a:avLst/>
          </a:prstGeom>
          <a:solidFill>
            <a:srgbClr val="8B5CF6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508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37744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237744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285232" y="2075688"/>
            <a:ext cx="274320" cy="1947672"/>
          </a:xfrm>
          <a:prstGeom prst="parallelogram">
            <a:avLst/>
          </a:prstGeom>
          <a:solidFill>
            <a:srgbClr val="F472B6">
              <a:alpha val="55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2167128"/>
            <a:ext cx="1005840" cy="1947672"/>
          </a:xfrm>
          <a:prstGeom prst="rect">
            <a:avLst/>
          </a:prstGeom>
          <a:solidFill>
            <a:srgbClr val="F472B6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508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114800" y="1709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411480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91072" y="1536192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1481328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1426464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137160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30936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AVERAGE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309360" y="19202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0.94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0.94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0.94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 0.18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at 80% to show the small gaps.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Discussion, Limits &amp; Future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95208" y="201168"/>
            <a:ext cx="5944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38744" y="141732"/>
            <a:ext cx="118872" cy="1188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2128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557784"/>
            <a:ext cx="118872" cy="2971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5729" y="944118"/>
            <a:ext cx="130759" cy="130759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2605" y="331927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24774" y="314096"/>
            <a:ext cx="594360" cy="653796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290322"/>
            <a:ext cx="594360" cy="653796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0436" y="361645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646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842" y="468630"/>
            <a:ext cx="118872" cy="154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9308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9503" y="516179"/>
            <a:ext cx="59436" cy="8321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4210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8939" y="652882"/>
            <a:ext cx="83210" cy="5349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4970" y="688543"/>
            <a:ext cx="166421" cy="594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2518" y="866851"/>
            <a:ext cx="71323" cy="713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457200"/>
            <a:ext cx="182880" cy="182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286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15000" y="228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bhi honest rakhein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1444752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1389888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1335024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315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18288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train–validation gap means good generalization. Confusions occur mostly between same-brand models with similar designs.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56432" y="1444752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01568" y="1389888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46704" y="1335024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474720" y="18288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dataset size and number of models. Real-world photos can differ from dataset conditions.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99632" y="1444752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44768" y="1389888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9904" y="1335024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2179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217920" y="18288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varied images, compare other architectures, further fine-tuning, convert to a mobile-friendly format.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2926080" cy="292608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1408176"/>
            <a:ext cx="7498080" cy="2286000"/>
          </a:xfrm>
          <a:prstGeom prst="roundRect">
            <a:avLst>
              <a:gd name="adj" fmla="val 32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335024"/>
            <a:ext cx="7498080" cy="2286000"/>
          </a:xfrm>
          <a:prstGeom prst="roundRect">
            <a:avLst>
              <a:gd name="adj" fmla="val 32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261872"/>
            <a:ext cx="7498080" cy="2286000"/>
          </a:xfrm>
          <a:prstGeom prst="roundRect">
            <a:avLst>
              <a:gd name="adj" fmla="val 32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88720"/>
            <a:ext cx="7498080" cy="2286000"/>
          </a:xfrm>
          <a:prstGeom prst="roundRect">
            <a:avLst>
              <a:gd name="adj" fmla="val 3200"/>
            </a:avLst>
          </a:prstGeom>
          <a:solidFill>
            <a:srgbClr val="1E2A5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9728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(sample value)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4173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MobileNetV2 reuses ImageNet features, cutting the data and training time needed versus training from scratch.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73454" y="3794760"/>
            <a:ext cx="7772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99616" y="3717036"/>
            <a:ext cx="155448" cy="15544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" y="4261104"/>
            <a:ext cx="155448" cy="38862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4261104"/>
            <a:ext cx="155448" cy="38862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44168" y="4766310"/>
            <a:ext cx="170993" cy="170993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39519" y="4766310"/>
            <a:ext cx="170993" cy="170993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43127" y="3965753"/>
            <a:ext cx="777240" cy="854964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9810" y="3942436"/>
            <a:ext cx="777240" cy="854964"/>
          </a:xfrm>
          <a:prstGeom prst="roundRect">
            <a:avLst>
              <a:gd name="adj" fmla="val 8000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3911346"/>
            <a:ext cx="777240" cy="854964"/>
          </a:xfrm>
          <a:prstGeom prst="roundRect">
            <a:avLst>
              <a:gd name="adj" fmla="val 8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66444" y="4004615"/>
            <a:ext cx="621792" cy="621792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 w="12700">
            <a:solidFill>
              <a:srgbClr val="0B10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5258" y="4144518"/>
            <a:ext cx="155448" cy="2020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3974" y="4144518"/>
            <a:ext cx="155448" cy="2020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21892" y="4206697"/>
            <a:ext cx="77724" cy="10881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70609" y="4206697"/>
            <a:ext cx="77724" cy="10881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97534" y="4385462"/>
            <a:ext cx="108814" cy="6995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48333" y="4385462"/>
            <a:ext cx="108814" cy="69952"/>
          </a:xfrm>
          <a:prstGeom prst="ellipse">
            <a:avLst/>
          </a:prstGeom>
          <a:solidFill>
            <a:srgbClr val="F472B6">
              <a:alpha val="6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8526" y="4432097"/>
            <a:ext cx="217627" cy="77724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30706" y="4665269"/>
            <a:ext cx="93269" cy="932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77640" y="4000500"/>
            <a:ext cx="182880" cy="182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384048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0604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Shukriya!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840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On-screen Show (16:9)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Phone Model Classification</dc:title>
  <dc:subject>PptxGenJS Presentation</dc:subject>
  <dc:creator>PptxGenJS</dc:creator>
  <cp:lastModifiedBy>Shehreyar</cp:lastModifiedBy>
  <cp:revision>2</cp:revision>
  <dcterms:created xsi:type="dcterms:W3CDTF">2026-10-28T10:53:05Z</dcterms:created>
  <dcterms:modified xsi:type="dcterms:W3CDTF">2026-10-28T10:53:41Z</dcterms:modified>
</cp:coreProperties>
</file>